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13A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371600"/>
            <a:ext cx="4572000" cy="4572000"/>
          </a:xfrm>
          <a:prstGeom prst="ellipse">
            <a:avLst/>
          </a:prstGeom>
          <a:solidFill>
            <a:srgbClr val="028090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789920" y="3931920"/>
            <a:ext cx="2926080" cy="2926080"/>
          </a:xfrm>
          <a:prstGeom prst="ellipse">
            <a:avLst/>
          </a:prstGeom>
          <a:solidFill>
            <a:srgbClr val="02C39A">
              <a:alpha val="3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1097280" y="5029200"/>
            <a:ext cx="3200400" cy="3200400"/>
          </a:xfrm>
          <a:prstGeom prst="ellipse">
            <a:avLst/>
          </a:prstGeom>
          <a:solidFill>
            <a:srgbClr val="00A896">
              <a:alpha val="25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554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CHECKPOINT 1  •  PRELIMINARY PERIOD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77240" y="1965960"/>
            <a:ext cx="91440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RetailPulse</a:t>
            </a:r>
            <a:endParaRPr lang="en-US" sz="6000" dirty="0"/>
          </a:p>
        </p:txBody>
      </p:sp>
      <p:sp>
        <p:nvSpPr>
          <p:cNvPr id="7" name="Text 5"/>
          <p:cNvSpPr/>
          <p:nvPr/>
        </p:nvSpPr>
        <p:spPr>
          <a:xfrm>
            <a:off x="822960" y="3063240"/>
            <a:ext cx="9601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Fundamentals &amp; SQL Querying — Poblacion Grocery Mart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822960" y="3749040"/>
            <a:ext cx="2011680" cy="0"/>
          </a:xfrm>
          <a:prstGeom prst="line">
            <a:avLst/>
          </a:prstGeom>
          <a:noFill/>
          <a:ln w="38100">
            <a:solidFill>
              <a:srgbClr val="02C39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3977640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 106 — Business Analytics  |  Talibon Polytechnic College  |  A.Y. 2026–2027, 1st Semester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22960" y="4297680"/>
            <a:ext cx="9601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Instructor: Jessie A. Melendres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22960" y="4919472"/>
            <a:ext cx="128016" cy="128016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4782312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Angel Frederick Paredes
</a:t>
            </a:r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Developer / Project Lead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669280" y="4919472"/>
            <a:ext cx="128016" cy="128016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4" name="Text 12"/>
          <p:cNvSpPr/>
          <p:nvPr/>
        </p:nvSpPr>
        <p:spPr>
          <a:xfrm>
            <a:off x="5943600" y="4782312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Jeeruz Marl Tabar
</a:t>
            </a:r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Support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22960" y="5605272"/>
            <a:ext cx="128016" cy="128016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6" name="Text 14"/>
          <p:cNvSpPr/>
          <p:nvPr/>
        </p:nvSpPr>
        <p:spPr>
          <a:xfrm>
            <a:off x="1097280" y="5468112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Luke Kibry Jao
</a:t>
            </a:r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Support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669280" y="5605272"/>
            <a:ext cx="128016" cy="128016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8" name="Text 16"/>
          <p:cNvSpPr/>
          <p:nvPr/>
        </p:nvSpPr>
        <p:spPr>
          <a:xfrm>
            <a:off x="5943600" y="5468112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Clein Lord Will Surigao
</a:t>
            </a:r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Documentation Review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We'll Cover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640080" cy="640080"/>
          </a:xfrm>
          <a:prstGeom prst="roundRect">
            <a:avLst>
              <a:gd name="adj" fmla="val 17143"/>
            </a:avLst>
          </a:prstGeom>
          <a:solidFill>
            <a:srgbClr val="013A40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7373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417320" y="1719072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Problem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417320" y="2057400"/>
            <a:ext cx="8961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F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Domain, context, and the business questions driving the analysis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633472"/>
            <a:ext cx="640080" cy="640080"/>
          </a:xfrm>
          <a:prstGeom prst="roundRect">
            <a:avLst>
              <a:gd name="adj" fmla="val 17143"/>
            </a:avLst>
          </a:prstGeom>
          <a:solidFill>
            <a:srgbClr val="013A40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633472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417320" y="2615184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&amp; Data Quality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417320" y="2953512"/>
            <a:ext cx="8961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F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of the data and how it was cleaned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3529584"/>
            <a:ext cx="640080" cy="640080"/>
          </a:xfrm>
          <a:prstGeom prst="roundRect">
            <a:avLst>
              <a:gd name="adj" fmla="val 17143"/>
            </a:avLst>
          </a:prstGeom>
          <a:solidFill>
            <a:srgbClr val="013A40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3529584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417320" y="3511296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Design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417320" y="3849624"/>
            <a:ext cx="8961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F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Relational schema and ERD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4425696"/>
            <a:ext cx="640080" cy="640080"/>
          </a:xfrm>
          <a:prstGeom prst="roundRect">
            <a:avLst>
              <a:gd name="adj" fmla="val 17143"/>
            </a:avLst>
          </a:prstGeom>
          <a:solidFill>
            <a:srgbClr val="013A40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4425696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417320" y="4407408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Query Report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417320" y="4745736"/>
            <a:ext cx="8961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F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queries answering real business questions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48640" y="5321808"/>
            <a:ext cx="640080" cy="640080"/>
          </a:xfrm>
          <a:prstGeom prst="roundRect">
            <a:avLst>
              <a:gd name="adj" fmla="val 17143"/>
            </a:avLst>
          </a:prstGeom>
          <a:solidFill>
            <a:srgbClr val="013A40"/>
          </a:solidFill>
          <a:ln/>
        </p:spPr>
      </p:sp>
      <p:sp>
        <p:nvSpPr>
          <p:cNvPr id="21" name="Text 19"/>
          <p:cNvSpPr/>
          <p:nvPr/>
        </p:nvSpPr>
        <p:spPr>
          <a:xfrm>
            <a:off x="548640" y="5321808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1417320" y="530352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&amp; Roles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417320" y="5641848"/>
            <a:ext cx="8961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F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did what this checkpoint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F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 106 — Business Analytics  |  Checkpoint 1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1127729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F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1.1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Business Problem Statement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6400800" cy="4206240"/>
          </a:xfrm>
          <a:prstGeom prst="roundRect">
            <a:avLst>
              <a:gd name="adj" fmla="val 1739"/>
            </a:avLst>
          </a:prstGeom>
          <a:solidFill>
            <a:srgbClr val="F7FAF9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965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68680" y="2240280"/>
            <a:ext cx="5669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Retail &amp; Sales Analytics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68680" y="27432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CONTEXT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68680" y="3035808"/>
            <a:ext cx="5669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grocery/supermarket-style retail store, “Poblacion Grocery Mart,” operating in Poblacion, Talibon, Bohol — the commercial center of northern Bohol.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68680" y="39319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68680" y="4224528"/>
            <a:ext cx="56692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Grocery stores carry dozens of products across many categories, but without structured sales analysis, owners can't tell which categories actually drive revenue versus which merely occupy shelf space — restocking, promotion, and pricing decisions end up based on intuition rather than data.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269480" y="1737360"/>
            <a:ext cx="4389120" cy="4206240"/>
          </a:xfrm>
          <a:prstGeom prst="roundRect">
            <a:avLst>
              <a:gd name="adj" fmla="val 1739"/>
            </a:avLst>
          </a:prstGeom>
          <a:solidFill>
            <a:srgbClr val="013A40"/>
          </a:solidFill>
          <a:ln/>
        </p:spPr>
      </p:sp>
      <p:sp>
        <p:nvSpPr>
          <p:cNvPr id="12" name="Text 10"/>
          <p:cNvSpPr/>
          <p:nvPr/>
        </p:nvSpPr>
        <p:spPr>
          <a:xfrm>
            <a:off x="7589520" y="196596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MATTERS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589520" y="2286000"/>
            <a:ext cx="37490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Turning intuition-based decisions into evidence-based ones — so owners can act on which categories truly drive revenue, not just which feel busy.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589520" y="3657600"/>
            <a:ext cx="3749040" cy="0"/>
          </a:xfrm>
          <a:prstGeom prst="line">
            <a:avLst/>
          </a:prstGeom>
          <a:noFill/>
          <a:ln w="12700">
            <a:solidFill>
              <a:srgbClr val="00A896">
                <a:alpha val="60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589520" y="379476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USED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589520" y="4114800"/>
            <a:ext cx="374904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months of transaction data (Jan–Jun 2026), structured as 4 relational tables: categories, products, transactions, transaction_items.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F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 106 — Business Analytics  |  Checkpoint 1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127729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F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1.1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Business Questions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3611880" cy="3840480"/>
          </a:xfrm>
          <a:prstGeom prst="roundRect">
            <a:avLst>
              <a:gd name="adj" fmla="val 2532"/>
            </a:avLst>
          </a:prstGeom>
          <a:solidFill>
            <a:srgbClr val="F7FAF9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2148840"/>
            <a:ext cx="822960" cy="822960"/>
          </a:xfrm>
          <a:prstGeom prst="ellipse">
            <a:avLst/>
          </a:prstGeom>
          <a:solidFill>
            <a:srgbClr val="013A40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214884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868680" y="3154680"/>
            <a:ext cx="301752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50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product categories generate the most revenue for the store?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4434840" y="1828800"/>
            <a:ext cx="3611880" cy="3840480"/>
          </a:xfrm>
          <a:prstGeom prst="roundRect">
            <a:avLst>
              <a:gd name="adj" fmla="val 2532"/>
            </a:avLst>
          </a:prstGeom>
          <a:solidFill>
            <a:srgbClr val="F7FAF9"/>
          </a:solidFill>
          <a:ln/>
        </p:spPr>
      </p:sp>
      <p:sp>
        <p:nvSpPr>
          <p:cNvPr id="9" name="Shape 7"/>
          <p:cNvSpPr/>
          <p:nvPr/>
        </p:nvSpPr>
        <p:spPr>
          <a:xfrm>
            <a:off x="4754880" y="2148840"/>
            <a:ext cx="822960" cy="82296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0" name="Text 8"/>
          <p:cNvSpPr/>
          <p:nvPr/>
        </p:nvSpPr>
        <p:spPr>
          <a:xfrm>
            <a:off x="4754880" y="214884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4754880" y="3154680"/>
            <a:ext cx="301752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50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high-revenue categories driven by high prices, high sales volume, or both?</a:t>
            </a:r>
            <a:endParaRPr lang="en-US" sz="1550" dirty="0"/>
          </a:p>
        </p:txBody>
      </p:sp>
      <p:sp>
        <p:nvSpPr>
          <p:cNvPr id="12" name="Shape 10"/>
          <p:cNvSpPr/>
          <p:nvPr/>
        </p:nvSpPr>
        <p:spPr>
          <a:xfrm>
            <a:off x="8321040" y="1828800"/>
            <a:ext cx="3611880" cy="3840480"/>
          </a:xfrm>
          <a:prstGeom prst="roundRect">
            <a:avLst>
              <a:gd name="adj" fmla="val 2532"/>
            </a:avLst>
          </a:prstGeom>
          <a:solidFill>
            <a:srgbClr val="F7FAF9"/>
          </a:solidFill>
          <a:ln/>
        </p:spPr>
      </p:sp>
      <p:sp>
        <p:nvSpPr>
          <p:cNvPr id="13" name="Shape 11"/>
          <p:cNvSpPr/>
          <p:nvPr/>
        </p:nvSpPr>
        <p:spPr>
          <a:xfrm>
            <a:off x="8641080" y="2148840"/>
            <a:ext cx="822960" cy="82296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4" name="Text 12"/>
          <p:cNvSpPr/>
          <p:nvPr/>
        </p:nvSpPr>
        <p:spPr>
          <a:xfrm>
            <a:off x="8641080" y="214884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8641080" y="3154680"/>
            <a:ext cx="301752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50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does revenue behave across the 6-month period — are there noticeable peaks (e.g., payday, holidays)?</a:t>
            </a:r>
            <a:endParaRPr lang="en-US" sz="1550" dirty="0"/>
          </a:p>
        </p:txBody>
      </p:sp>
      <p:sp>
        <p:nvSpPr>
          <p:cNvPr id="16" name="Text 14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F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 106 — Business Analytics  |  Checkpoint 1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127729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F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1.2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Dataset Overview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F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Poblacion Grocery Mart Sales Dataset — localized 6-month sales data modeled on the Supermart Grocery Sales – Retail Analytics Dataset (Kaggle, 2022), reflecting a small-town Bohol grocery store (Jan 1 – Jun 30, 2026).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377440"/>
            <a:ext cx="2697480" cy="2011680"/>
          </a:xfrm>
          <a:prstGeom prst="roundRect">
            <a:avLst>
              <a:gd name="adj" fmla="val 4545"/>
            </a:avLst>
          </a:prstGeom>
          <a:solidFill>
            <a:srgbClr val="013A4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2606040"/>
            <a:ext cx="2697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548640" y="3520440"/>
            <a:ext cx="2697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CATEGORIES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456432" y="2377440"/>
            <a:ext cx="2697480" cy="2011680"/>
          </a:xfrm>
          <a:prstGeom prst="roundRect">
            <a:avLst>
              <a:gd name="adj" fmla="val 4545"/>
            </a:avLst>
          </a:prstGeom>
          <a:solidFill>
            <a:srgbClr val="028090"/>
          </a:solidFill>
          <a:ln/>
        </p:spPr>
      </p:sp>
      <p:sp>
        <p:nvSpPr>
          <p:cNvPr id="9" name="Text 7"/>
          <p:cNvSpPr/>
          <p:nvPr/>
        </p:nvSpPr>
        <p:spPr>
          <a:xfrm>
            <a:off x="3456432" y="2606040"/>
            <a:ext cx="2697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3456432" y="3520440"/>
            <a:ext cx="2697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364224" y="2377440"/>
            <a:ext cx="2697480" cy="2011680"/>
          </a:xfrm>
          <a:prstGeom prst="roundRect">
            <a:avLst>
              <a:gd name="adj" fmla="val 4545"/>
            </a:avLst>
          </a:prstGeom>
          <a:solidFill>
            <a:srgbClr val="013A40"/>
          </a:solidFill>
          <a:ln/>
        </p:spPr>
      </p:sp>
      <p:sp>
        <p:nvSpPr>
          <p:cNvPr id="12" name="Text 10"/>
          <p:cNvSpPr/>
          <p:nvPr/>
        </p:nvSpPr>
        <p:spPr>
          <a:xfrm>
            <a:off x="6364224" y="2606040"/>
            <a:ext cx="2697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2,532</a:t>
            </a:r>
            <a:endParaRPr lang="en-US" sz="4000" dirty="0"/>
          </a:p>
        </p:txBody>
      </p:sp>
      <p:sp>
        <p:nvSpPr>
          <p:cNvPr id="13" name="Text 11"/>
          <p:cNvSpPr/>
          <p:nvPr/>
        </p:nvSpPr>
        <p:spPr>
          <a:xfrm>
            <a:off x="6364224" y="3520440"/>
            <a:ext cx="2697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9272016" y="2377440"/>
            <a:ext cx="2697480" cy="2011680"/>
          </a:xfrm>
          <a:prstGeom prst="roundRect">
            <a:avLst>
              <a:gd name="adj" fmla="val 4545"/>
            </a:avLst>
          </a:prstGeom>
          <a:solidFill>
            <a:srgbClr val="028090"/>
          </a:solidFill>
          <a:ln/>
        </p:spPr>
      </p:sp>
      <p:sp>
        <p:nvSpPr>
          <p:cNvPr id="15" name="Text 13"/>
          <p:cNvSpPr/>
          <p:nvPr/>
        </p:nvSpPr>
        <p:spPr>
          <a:xfrm>
            <a:off x="9272016" y="2606040"/>
            <a:ext cx="2697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10,087</a:t>
            </a:r>
            <a:endParaRPr lang="en-US" sz="4000" dirty="0"/>
          </a:p>
        </p:txBody>
      </p:sp>
      <p:sp>
        <p:nvSpPr>
          <p:cNvPr id="16" name="Text 14"/>
          <p:cNvSpPr/>
          <p:nvPr/>
        </p:nvSpPr>
        <p:spPr>
          <a:xfrm>
            <a:off x="9272016" y="3520440"/>
            <a:ext cx="2697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 ITEMS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48640" y="4663440"/>
            <a:ext cx="11064240" cy="1417320"/>
          </a:xfrm>
          <a:prstGeom prst="roundRect">
            <a:avLst>
              <a:gd name="adj" fmla="val 5161"/>
            </a:avLst>
          </a:prstGeom>
          <a:solidFill>
            <a:srgbClr val="F7FAF9"/>
          </a:solidFill>
          <a:ln/>
        </p:spPr>
      </p:sp>
      <p:sp>
        <p:nvSpPr>
          <p:cNvPr id="18" name="Text 16"/>
          <p:cNvSpPr/>
          <p:nvPr/>
        </p:nvSpPr>
        <p:spPr>
          <a:xfrm>
            <a:off x="822960" y="4828032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related tables: categories, products, transactions, transaction_items. transaction_items acts as the bridge table linking transactions to products (many-to-many), while products links to categories via a foreign key.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F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 106 — Business Analytics  |  Checkpoint 1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1127729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F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1.2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Quality Assessment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6F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Performed on the raw transactions file (2,539 rows) before cleaning:</a:t>
            </a:r>
            <a:endParaRPr lang="en-US" sz="1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57400"/>
          <a:ext cx="11064240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1188720"/>
                <a:gridCol w="5669280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Issue Found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13A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Count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13A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Cleaning Step Applied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13A40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B2B2E"/>
                          </a:solidFill>
                        </a:rPr>
                        <a:t>Duplicate transaction_id rows (exact re-entries)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B2B2E"/>
                          </a:solidFill>
                        </a:rPr>
                        <a:t>6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B2B2E"/>
                          </a:solidFill>
                        </a:rPr>
                        <a:t>Removed, kept first occurrence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B2B2E"/>
                          </a:solidFill>
                        </a:rPr>
                        <a:t>Missing payment_type values (blank)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B2B2E"/>
                          </a:solidFill>
                        </a:rPr>
                        <a:t>15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B2B2E"/>
                          </a:solidFill>
                        </a:rPr>
                        <a:t>Recoded to “Unknown” rather than dropped, to preserve the transaction total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B2B2E"/>
                          </a:solidFill>
                        </a:rPr>
                        <a:t>Inconsistent payment_type labels (“cash”, “CASH”, “gcash”, “G-Cash”)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B2B2E"/>
                          </a:solidFill>
                        </a:rPr>
                        <a:t>17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B2B2E"/>
                          </a:solidFill>
                        </a:rPr>
                        <a:t>Standardized to Cash, GCash, Credit/Utang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5074920"/>
            <a:ext cx="11064240" cy="1005840"/>
          </a:xfrm>
          <a:prstGeom prst="roundRect">
            <a:avLst>
              <a:gd name="adj" fmla="val 7273"/>
            </a:avLst>
          </a:prstGeom>
          <a:solidFill>
            <a:srgbClr val="F7FAF9"/>
          </a:solidFill>
          <a:ln/>
        </p:spPr>
      </p:sp>
      <p:sp>
        <p:nvSpPr>
          <p:cNvPr id="7" name="Text 4"/>
          <p:cNvSpPr/>
          <p:nvPr/>
        </p:nvSpPr>
        <p:spPr>
          <a:xfrm>
            <a:off x="822960" y="5212080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2,539 raw rows → 2,533 cleaned rows imported into the transactions table. 4 extraneous header rows (one per table) inserted during import were caught by row-count verification and removed.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F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 106 — Business Analytics  |  Checkpoint 1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127729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F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1.3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Relational Database Design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6F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related tables — transaction_items bridges transactions and products (many-to-many); products links to categories via foreign key.</a:t>
            </a:r>
            <a:endParaRPr lang="en-US" sz="1350" dirty="0"/>
          </a:p>
        </p:txBody>
      </p:sp>
      <p:pic>
        <p:nvPicPr>
          <p:cNvPr id="5" name="Image 0" descr="/home/claude/erd_diagra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6648" y="2240280"/>
            <a:ext cx="10058400" cy="3240187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5709067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5C6F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— ERD generated via dbdiagram.io, showing primary/foreign key relationships across categories, products, transactions, and transaction_items.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F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 106 — Business Analytics  |  Checkpoint 1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1127729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F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1.4 — QUERY 7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Which Category Drives the Most Revenue?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6035040" cy="4206240"/>
          </a:xfrm>
          <a:prstGeom prst="roundRect">
            <a:avLst>
              <a:gd name="adj" fmla="val 1739"/>
            </a:avLst>
          </a:prstGeom>
          <a:solidFill>
            <a:srgbClr val="013A40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920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BUSINESS-RELEVANT QUERY (JOIN + GROUP BY)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22960" y="2286000"/>
            <a:ext cx="548640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8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c.category_name,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8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SUM(ti.subtotal) AS total_revenue,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8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COUNT(DISTINCT ti.transaction_id)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8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AS num_transactions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8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transaction_items ti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8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JOIN products p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8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ON ti.product_id = p.product_id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8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JOIN categories c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8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ON p.category_id = c.category_id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8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GROUP BY c.category_name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8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 BY total_revenue DESC;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812280" y="1737360"/>
            <a:ext cx="4846320" cy="4206240"/>
          </a:xfrm>
          <a:prstGeom prst="roundRect">
            <a:avLst>
              <a:gd name="adj" fmla="val 1739"/>
            </a:avLst>
          </a:prstGeom>
          <a:solidFill>
            <a:srgbClr val="F7FAF9"/>
          </a:solidFill>
          <a:ln/>
        </p:spPr>
      </p:sp>
      <p:sp>
        <p:nvSpPr>
          <p:cNvPr id="8" name="Text 6"/>
          <p:cNvSpPr/>
          <p:nvPr/>
        </p:nvSpPr>
        <p:spPr>
          <a:xfrm>
            <a:off x="7086600" y="1920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RESULT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086600" y="2194560"/>
            <a:ext cx="4297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Rice &amp; Staples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7086600" y="2697480"/>
            <a:ext cx="4297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1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₱</a:t>
            </a:r>
            <a:pPr indent="0" marL="0">
              <a:buNone/>
            </a:pPr>
            <a:r>
              <a:rPr lang="en-US" sz="3400" b="1" dirty="0">
                <a:solidFill>
                  <a:srgbClr val="013A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1,028,760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7086600" y="3291840"/>
            <a:ext cx="4297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6F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37.0% of total store revenue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086600" y="3794760"/>
            <a:ext cx="4023360" cy="0"/>
          </a:xfrm>
          <a:prstGeom prst="line">
            <a:avLst/>
          </a:prstGeom>
          <a:noFill/>
          <a:ln w="12700">
            <a:solidFill>
              <a:srgbClr val="CFE9E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086600" y="393192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Interpretation: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086600" y="4224528"/>
            <a:ext cx="41148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Rice &amp; Staples clearly leads every other category, confirming staple goods — not discretionary items — as the store's main revenue engine and a priority for consistent restocking.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F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 106 — Business Analytics  |  Checkpoint 1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27729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F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1.4 — QUERY 8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10 Products by Revenue</a:t>
            </a:r>
            <a:endParaRPr lang="en-US" sz="3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37360"/>
          <a:ext cx="731520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1828800"/>
                <a:gridCol w="1188720"/>
                <a:gridCol w="12801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Product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13A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Category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13A4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Units Sold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13A4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Revenue (₱)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13A4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2B2E"/>
                          </a:solidFill>
                        </a:rPr>
                        <a:t>Rice 25kg Sack (NFA)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F70"/>
                          </a:solidFill>
                        </a:rPr>
                        <a:t>Rice &amp; Staples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0B2B2E"/>
                          </a:solidFill>
                        </a:rPr>
                        <a:t>380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0B2B2E"/>
                          </a:solidFill>
                        </a:rPr>
                        <a:t>589,000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2B2E"/>
                          </a:solidFill>
                        </a:rPr>
                        <a:t>San Miguel Beer (case)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F70"/>
                          </a:solidFill>
                        </a:rPr>
                        <a:t>Beverages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0B2B2E"/>
                          </a:solidFill>
                        </a:rPr>
                        <a:t>380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0B2B2E"/>
                          </a:solidFill>
                        </a:rPr>
                        <a:t>296,400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2B2E"/>
                          </a:solidFill>
                        </a:rPr>
                        <a:t>Dinorado Rice 5kg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F70"/>
                          </a:solidFill>
                        </a:rPr>
                        <a:t>Rice &amp; Staples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0B2B2E"/>
                          </a:solidFill>
                        </a:rPr>
                        <a:t>734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0B2B2E"/>
                          </a:solidFill>
                        </a:rPr>
                        <a:t>234,880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2B2E"/>
                          </a:solidFill>
                        </a:rPr>
                        <a:t>Sinandomeng Rice 5kg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F70"/>
                          </a:solidFill>
                        </a:rPr>
                        <a:t>Rice &amp; Staples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0B2B2E"/>
                          </a:solidFill>
                        </a:rPr>
                        <a:t>788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0B2B2E"/>
                          </a:solidFill>
                        </a:rPr>
                        <a:t>204,880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2B2E"/>
                          </a:solidFill>
                        </a:rPr>
                        <a:t>Purefoods Hotdog 1kg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F70"/>
                          </a:solidFill>
                        </a:rPr>
                        <a:t>Frozen &amp; Dairy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0B2B2E"/>
                          </a:solidFill>
                        </a:rPr>
                        <a:t>766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0B2B2E"/>
                          </a:solidFill>
                        </a:rPr>
                        <a:t>145,540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2B2E"/>
                          </a:solidFill>
                        </a:rPr>
                        <a:t>Frozen Galunggong 1kg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F70"/>
                          </a:solidFill>
                        </a:rPr>
                        <a:t>Frozen &amp; Dairy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0B2B2E"/>
                          </a:solidFill>
                        </a:rPr>
                        <a:t>754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0B2B2E"/>
                          </a:solidFill>
                        </a:rPr>
                        <a:t>124,410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2B2E"/>
                          </a:solidFill>
                        </a:rPr>
                        <a:t>Eggs (per tray of 30)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F70"/>
                          </a:solidFill>
                        </a:rPr>
                        <a:t>Frozen &amp; Dairy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0B2B2E"/>
                          </a:solidFill>
                        </a:rPr>
                        <a:t>371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0B2B2E"/>
                          </a:solidFill>
                        </a:rPr>
                        <a:t>89,040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8138160" y="1737360"/>
            <a:ext cx="3520440" cy="3977640"/>
          </a:xfrm>
          <a:prstGeom prst="roundRect">
            <a:avLst>
              <a:gd name="adj" fmla="val 2078"/>
            </a:avLst>
          </a:prstGeom>
          <a:solidFill>
            <a:srgbClr val="F7FAF9"/>
          </a:solidFill>
          <a:ln/>
        </p:spPr>
      </p:sp>
      <p:sp>
        <p:nvSpPr>
          <p:cNvPr id="6" name="Text 3"/>
          <p:cNvSpPr/>
          <p:nvPr/>
        </p:nvSpPr>
        <p:spPr>
          <a:xfrm>
            <a:off x="8366760" y="192024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SHOWS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8366760" y="2240280"/>
            <a:ext cx="310896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Rice products occupy 3 of the top 4 spots, and San Miguel Beer alone brings in nearly ₱300K despite matching rice-sack unit volume — a sign that a small set of SKUs drives a disproportionate share of revenue.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8366760" y="4343400"/>
            <a:ext cx="3017520" cy="0"/>
          </a:xfrm>
          <a:prstGeom prst="line">
            <a:avLst/>
          </a:prstGeom>
          <a:noFill/>
          <a:ln w="12700">
            <a:solidFill>
              <a:srgbClr val="CFE9E6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366760" y="4480560"/>
            <a:ext cx="3108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i="1" dirty="0">
                <a:solidFill>
                  <a:srgbClr val="01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top-10 SKUs should anchor inventory priority and stockout prevention.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F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 106 — Business Analytics  |  Checkpoint 1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1127729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F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1.4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Full SQL Query Coverage — 8 Queries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5349240" cy="2011680"/>
          </a:xfrm>
          <a:prstGeom prst="roundRect">
            <a:avLst>
              <a:gd name="adj" fmla="val 4545"/>
            </a:avLst>
          </a:prstGeom>
          <a:solidFill>
            <a:srgbClr val="F7FAF9"/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2103120"/>
            <a:ext cx="1188720" cy="457200"/>
          </a:xfrm>
          <a:prstGeom prst="roundRect">
            <a:avLst>
              <a:gd name="adj" fmla="val 16000"/>
            </a:avLst>
          </a:prstGeom>
          <a:solidFill>
            <a:srgbClr val="013A40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2103120"/>
            <a:ext cx="1188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queries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2194560" y="2057400"/>
            <a:ext cx="3474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SELECT + WHERE / ORDER BY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22960" y="2743200"/>
            <a:ext cx="48463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5C6F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Beverage price ranking; largest GCash transactions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172200" y="1828800"/>
            <a:ext cx="5349240" cy="2011680"/>
          </a:xfrm>
          <a:prstGeom prst="roundRect">
            <a:avLst>
              <a:gd name="adj" fmla="val 4545"/>
            </a:avLst>
          </a:prstGeom>
          <a:solidFill>
            <a:srgbClr val="F7FAF9"/>
          </a:solidFill>
          <a:ln/>
        </p:spPr>
      </p:sp>
      <p:sp>
        <p:nvSpPr>
          <p:cNvPr id="10" name="Shape 8"/>
          <p:cNvSpPr/>
          <p:nvPr/>
        </p:nvSpPr>
        <p:spPr>
          <a:xfrm>
            <a:off x="6446520" y="2103120"/>
            <a:ext cx="1188720" cy="457200"/>
          </a:xfrm>
          <a:prstGeom prst="roundRect">
            <a:avLst>
              <a:gd name="adj" fmla="val 16000"/>
            </a:avLst>
          </a:prstGeom>
          <a:solidFill>
            <a:srgbClr val="028090"/>
          </a:solidFill>
          <a:ln/>
        </p:spPr>
      </p:sp>
      <p:sp>
        <p:nvSpPr>
          <p:cNvPr id="11" name="Text 9"/>
          <p:cNvSpPr/>
          <p:nvPr/>
        </p:nvSpPr>
        <p:spPr>
          <a:xfrm>
            <a:off x="6446520" y="2103120"/>
            <a:ext cx="1188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queries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818120" y="2057400"/>
            <a:ext cx="3474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GROUP BY + Aggregates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446520" y="2743200"/>
            <a:ext cx="48463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5C6F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by payment method; monthly revenue trend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4114800"/>
            <a:ext cx="5349240" cy="2011680"/>
          </a:xfrm>
          <a:prstGeom prst="roundRect">
            <a:avLst>
              <a:gd name="adj" fmla="val 4545"/>
            </a:avLst>
          </a:prstGeom>
          <a:solidFill>
            <a:srgbClr val="F7FAF9"/>
          </a:solidFill>
          <a:ln/>
        </p:spPr>
      </p:sp>
      <p:sp>
        <p:nvSpPr>
          <p:cNvPr id="15" name="Shape 13"/>
          <p:cNvSpPr/>
          <p:nvPr/>
        </p:nvSpPr>
        <p:spPr>
          <a:xfrm>
            <a:off x="822960" y="4389120"/>
            <a:ext cx="1188720" cy="457200"/>
          </a:xfrm>
          <a:prstGeom prst="roundRect">
            <a:avLst>
              <a:gd name="adj" fmla="val 16000"/>
            </a:avLst>
          </a:prstGeom>
          <a:solidFill>
            <a:srgbClr val="00A896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4389120"/>
            <a:ext cx="1188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queries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194560" y="4343400"/>
            <a:ext cx="3474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JOIN Operations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22960" y="5029200"/>
            <a:ext cx="48463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5C6F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catalog by category; items sold per transaction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172200" y="4114800"/>
            <a:ext cx="5349240" cy="2011680"/>
          </a:xfrm>
          <a:prstGeom prst="roundRect">
            <a:avLst>
              <a:gd name="adj" fmla="val 4545"/>
            </a:avLst>
          </a:prstGeom>
          <a:solidFill>
            <a:srgbClr val="F7FAF9"/>
          </a:solidFill>
          <a:ln/>
        </p:spPr>
      </p:sp>
      <p:sp>
        <p:nvSpPr>
          <p:cNvPr id="20" name="Shape 18"/>
          <p:cNvSpPr/>
          <p:nvPr/>
        </p:nvSpPr>
        <p:spPr>
          <a:xfrm>
            <a:off x="6446520" y="4389120"/>
            <a:ext cx="1188720" cy="457200"/>
          </a:xfrm>
          <a:prstGeom prst="roundRect">
            <a:avLst>
              <a:gd name="adj" fmla="val 16000"/>
            </a:avLst>
          </a:prstGeom>
          <a:solidFill>
            <a:srgbClr val="02C39A"/>
          </a:solidFill>
          <a:ln/>
        </p:spPr>
      </p:sp>
      <p:sp>
        <p:nvSpPr>
          <p:cNvPr id="21" name="Text 19"/>
          <p:cNvSpPr/>
          <p:nvPr/>
        </p:nvSpPr>
        <p:spPr>
          <a:xfrm>
            <a:off x="6446520" y="4389120"/>
            <a:ext cx="1188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queries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818120" y="4343400"/>
            <a:ext cx="3474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Business-Relevant Queries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446520" y="5029200"/>
            <a:ext cx="48463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5C6F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revenue category; top 10 products by revenue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F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 106 — Business Analytics  |  Checkpoint 1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1127729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F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Team &amp; Roles — Checkpoint 1</a:t>
            </a:r>
            <a:endParaRPr lang="en-US" sz="3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1106424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2377440"/>
                <a:gridCol w="6126480"/>
              </a:tblGrid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Member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13A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Role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13A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Component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13A40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B2B2E"/>
                          </a:solidFill>
                        </a:rPr>
                        <a:t>Angel Frederick Paredes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28090"/>
                          </a:solidFill>
                        </a:rPr>
                        <a:t>Lead Developer / Project Lead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F70"/>
                          </a:solidFill>
                        </a:rPr>
                        <a:t>Problem definition &amp; KPI design, data cleaning/transformation/loading, SQL query design &amp; database schema, dashboard design, testing &amp; documentation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B2B2E"/>
                          </a:solidFill>
                        </a:rPr>
                        <a:t>Jeeruz Marl Tabar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28090"/>
                          </a:solidFill>
                        </a:rPr>
                        <a:t>Research Support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F70"/>
                          </a:solidFill>
                        </a:rPr>
                        <a:t>Compiled candidate datasets and reference sources; reviewed data definitions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9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B2B2E"/>
                          </a:solidFill>
                        </a:rPr>
                        <a:t>Luke Kibry Jao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28090"/>
                          </a:solidFill>
                        </a:rPr>
                        <a:t>Testing Support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F70"/>
                          </a:solidFill>
                        </a:rPr>
                        <a:t>Manual testing of dashboard queries and outputs across sample scenarios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B2B2E"/>
                          </a:solidFill>
                        </a:rPr>
                        <a:t>Clein Lord Will Surigao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28090"/>
                          </a:solidFill>
                        </a:rPr>
                        <a:t>Documentation Review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F70"/>
                          </a:solidFill>
                        </a:rPr>
                        <a:t>Reviewed checkpoint write-ups and the final report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9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F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 106 — Business Analytics  |  Checkpoint 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1127729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F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13A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-1371600"/>
            <a:ext cx="4572000" cy="4572000"/>
          </a:xfrm>
          <a:prstGeom prst="ellipse">
            <a:avLst/>
          </a:prstGeom>
          <a:solidFill>
            <a:srgbClr val="028090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875520" y="4389120"/>
            <a:ext cx="3657600" cy="3657600"/>
          </a:xfrm>
          <a:prstGeom prst="ellipse">
            <a:avLst/>
          </a:prstGeom>
          <a:solidFill>
            <a:srgbClr val="02C39A">
              <a:alpha val="3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0" y="2651760"/>
            <a:ext cx="12191695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0" y="3657600"/>
            <a:ext cx="12191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Discussion  —  RetailPulse: Poblacion Grocery Mart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2026-08-23T06:41:28Z</dcterms:created>
  <dcterms:modified xsi:type="dcterms:W3CDTF">2026-08-23T06:41:28Z</dcterms:modified>
</cp:coreProperties>
</file>