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(₱)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Rice 25kg Sack</c:v>
                  </c:pt>
                  <c:pt idx="1">
                    <c:v>SM Beer (case)</c:v>
                  </c:pt>
                  <c:pt idx="2">
                    <c:v>Dinorado Rice 5kg</c:v>
                  </c:pt>
                  <c:pt idx="3">
                    <c:v>Sinandomeng Rice 5kg</c:v>
                  </c:pt>
                  <c:pt idx="4">
                    <c:v>Purefoods Hotdog</c:v>
                  </c:pt>
                  <c:pt idx="5">
                    <c:v>Frozen Galunggong</c:v>
                  </c:pt>
                  <c:pt idx="6">
                    <c:v>Eggs (tray 30)</c:v>
                  </c:pt>
                  <c:pt idx="7">
                    <c:v>Magnolia Milk 1L</c:v>
                  </c:pt>
                  <c:pt idx="8">
                    <c:v>Argentina Corned Beef</c:v>
                  </c:pt>
                  <c:pt idx="9">
                    <c:v>Tide Detergent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589000</c:v>
                </c:pt>
                <c:pt idx="1">
                  <c:v>296400</c:v>
                </c:pt>
                <c:pt idx="2">
                  <c:v>234880</c:v>
                </c:pt>
                <c:pt idx="3">
                  <c:v>204880</c:v>
                </c:pt>
                <c:pt idx="4">
                  <c:v>145540</c:v>
                </c:pt>
                <c:pt idx="5">
                  <c:v>124410</c:v>
                </c:pt>
                <c:pt idx="6">
                  <c:v>89040</c:v>
                </c:pt>
                <c:pt idx="7">
                  <c:v>82800</c:v>
                </c:pt>
                <c:pt idx="8">
                  <c:v>78470</c:v>
                </c:pt>
                <c:pt idx="9">
                  <c:v>68172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F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3A40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bubble3D val="0"/>
            <c:spPr>
              <a:solidFill>
                <a:srgbClr val="5FBFB8"/>
              </a:solidFill>
              <a:effectLst/>
            </c:spPr>
          </c:dPt>
          <c:dPt>
            <c:idx val="5"/>
            <c:bubble3D val="0"/>
            <c:spPr>
              <a:solidFill>
                <a:srgbClr val="8FD4CE"/>
              </a:solidFill>
              <a:effectLst/>
            </c:spPr>
          </c:dPt>
          <c:dPt>
            <c:idx val="6"/>
            <c:bubble3D val="0"/>
            <c:spPr>
              <a:solidFill>
                <a:srgbClr val="BFE8E4"/>
              </a:solidFill>
              <a:effectLst/>
            </c:spPr>
          </c:dPt>
          <c:dPt>
            <c:idx val="7"/>
            <c:bubble3D val="0"/>
            <c:spPr>
              <a:solidFill>
                <a:srgbClr val="1A5A61"/>
              </a:solidFill>
              <a:effectLst/>
            </c:spPr>
          </c:dPt>
          <c:dPt>
            <c:idx val="8"/>
            <c:bubble3D val="0"/>
            <c:spPr>
              <a:solidFill>
                <a:srgbClr val="3D7A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Rice &amp; Staples</c:v>
                </c:pt>
                <c:pt idx="1">
                  <c:v>Frozen &amp; Dairy</c:v>
                </c:pt>
                <c:pt idx="2">
                  <c:v>Beverages</c:v>
                </c:pt>
                <c:pt idx="3">
                  <c:v>Canned Goods</c:v>
                </c:pt>
                <c:pt idx="4">
                  <c:v>Household Supplies</c:v>
                </c:pt>
                <c:pt idx="5">
                  <c:v>Personal Care &amp; Hygiene</c:v>
                </c:pt>
                <c:pt idx="6">
                  <c:v>Snacks &amp; Biscuits</c:v>
                </c:pt>
                <c:pt idx="7">
                  <c:v>Condiments &amp; Seasoning</c:v>
                </c:pt>
                <c:pt idx="8">
                  <c:v>Bread &amp; Bakery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1028760</c:v>
                </c:pt>
                <c:pt idx="1">
                  <c:v>491710</c:v>
                </c:pt>
                <c:pt idx="2">
                  <c:v>427095</c:v>
                </c:pt>
                <c:pt idx="3">
                  <c:v>203989</c:v>
                </c:pt>
                <c:pt idx="4">
                  <c:v>178717</c:v>
                </c:pt>
                <c:pt idx="5">
                  <c:v>150360</c:v>
                </c:pt>
                <c:pt idx="6">
                  <c:v>127248</c:v>
                </c:pt>
                <c:pt idx="7">
                  <c:v>103846</c:v>
                </c:pt>
                <c:pt idx="8">
                  <c:v>67902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0B2B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B2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Personal Care &amp; Hygiene</c:v>
                  </c:pt>
                  <c:pt idx="1">
                    <c:v>Household Supplies</c:v>
                  </c:pt>
                  <c:pt idx="2">
                    <c:v>Canned Goods</c:v>
                  </c:pt>
                  <c:pt idx="3">
                    <c:v>Condiments &amp; Seasoning</c:v>
                  </c:pt>
                  <c:pt idx="4">
                    <c:v>Snacks &amp; Biscuits</c:v>
                  </c:pt>
                  <c:pt idx="5">
                    <c:v>Bread &amp; Bakery</c:v>
                  </c:pt>
                  <c:pt idx="6">
                    <c:v>Beverages</c:v>
                  </c:pt>
                  <c:pt idx="7">
                    <c:v>Frozen &amp; Dairy</c:v>
                  </c:pt>
                  <c:pt idx="8">
                    <c:v>Rice &amp; Staples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33.78</c:v>
                </c:pt>
                <c:pt idx="1">
                  <c:v>29.42</c:v>
                </c:pt>
                <c:pt idx="2">
                  <c:v>28.78</c:v>
                </c:pt>
                <c:pt idx="3">
                  <c:v>32.08</c:v>
                </c:pt>
                <c:pt idx="4">
                  <c:v>30.61</c:v>
                </c:pt>
                <c:pt idx="5">
                  <c:v>25.01</c:v>
                </c:pt>
                <c:pt idx="6">
                  <c:v>22.99</c:v>
                </c:pt>
                <c:pt idx="7">
                  <c:v>21.65</c:v>
                </c:pt>
                <c:pt idx="8">
                  <c:v>15.5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0B2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B2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F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931920"/>
            <a:ext cx="2926080" cy="29260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029200"/>
            <a:ext cx="3200400" cy="32004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 •  MIDTERM PERIOD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RetailPulse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Analysis, Performance Metrics &amp; Initial Visualization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20116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77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Talibon Polytechnic College  |  A.Y. 2026–2027, 1st Semester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Jessie A. Melendres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9194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78231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Frederick Paredes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/ Project Lead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49194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478231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Jeeruz Marl Tabar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Support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6052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46811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Kibry Jao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Support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56052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546811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Clein Lord Will Surigao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13A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190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units-sold distribution across 40 products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13A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334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61518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95351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high sales volume mean high profit?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13A4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95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5112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849624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products, category share, and profitability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13A4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256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4074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KPIs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745736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headline numbers for the business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13A4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21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5303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64184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means for decision-making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total revenue and total units sold, aggregated per product (n = 40 products).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7315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Total Revenue per Product (₱)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Units Sold per Product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B2E"/>
                          </a:solidFill>
                        </a:rPr>
                        <a:t>Mean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69,490.68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727.25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B2E"/>
                          </a:solidFill>
                        </a:rPr>
                        <a:t>Median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33,408.00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755.00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B2E"/>
                          </a:solidFill>
                        </a:rPr>
                        <a:t>Standard Deviation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105,410.26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114.45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B2E"/>
                          </a:solidFill>
                        </a:rPr>
                        <a:t>Minimum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2,328.00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371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B2E"/>
                          </a:solidFill>
                        </a:rPr>
                        <a:t>Maximum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589,000.00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894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21031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7FAF9"/>
          </a:solidFill>
          <a:ln/>
        </p:spPr>
      </p:sp>
      <p:sp>
        <p:nvSpPr>
          <p:cNvPr id="7" name="Text 4"/>
          <p:cNvSpPr/>
          <p:nvPr/>
        </p:nvSpPr>
        <p:spPr>
          <a:xfrm>
            <a:off x="8366760" y="2286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SPREAD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66760" y="26060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revenue (₱69,491) is more than double the median (₱33,408) — a right-skewed distribution driven by a handful of very high-revenue products, not a typical product.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Identification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using a revenue z-score threshold of |z| &gt; 1.0 and the 1.5×IQR rule (Q1 = ₱21,380.50, Q3 = ₱62,605.50).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2011680"/>
                <a:gridCol w="146304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Revenue (₱)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Z-Score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Flag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</a:rPr>
                        <a:t>Rice 25kg Sack (NFA)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F70"/>
                          </a:solidFill>
                        </a:rPr>
                        <a:t>Rice &amp; Staples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2B2E"/>
                          </a:solidFill>
                        </a:rPr>
                        <a:t>589,000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</a:rPr>
                        <a:t>4.93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</a:rPr>
                        <a:t>High outlier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</a:rPr>
                        <a:t>San Miguel Beer (case)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F70"/>
                          </a:solidFill>
                        </a:rPr>
                        <a:t>Beverages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2B2E"/>
                          </a:solidFill>
                        </a:rPr>
                        <a:t>296,400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</a:rPr>
                        <a:t>2.15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</a:rPr>
                        <a:t>High outlier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</a:rPr>
                        <a:t>Dinorado Rice 5kg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F70"/>
                          </a:solidFill>
                        </a:rPr>
                        <a:t>Rice &amp; Staples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2B2E"/>
                          </a:solidFill>
                        </a:rPr>
                        <a:t>234,880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</a:rPr>
                        <a:t>1.57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</a:rPr>
                        <a:t>High outlier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</a:rPr>
                        <a:t>Sinandomeng Rice 5kg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F70"/>
                          </a:solidFill>
                        </a:rPr>
                        <a:t>Rice &amp; Staples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2B2E"/>
                          </a:solidFill>
                        </a:rPr>
                        <a:t>204,880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</a:rPr>
                        <a:t>1.28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</a:rPr>
                        <a:t>High outlier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</a:rPr>
                        <a:t>Purefoods Hotdog 1kg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F70"/>
                          </a:solidFill>
                        </a:rPr>
                        <a:t>Frozen &amp; Dairy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2B2E"/>
                          </a:solidFill>
                        </a:rPr>
                        <a:t>145,540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2B2E"/>
                          </a:solidFill>
                        </a:rPr>
                        <a:t>0.72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</a:rPr>
                        <a:t>High outlier (IQR)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46811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products, mostly rice and beverages, sell far above the norm — these deserve dedicated safety-stock levels, since a stockout on any one directly threatens overall revenue.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high-selling products also yield high profit margins? Pearson's r computed across all 40 products.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400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05840"/>
                <a:gridCol w="21031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Variables Compared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Strength &amp; Direction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Total Revenue vs. Total Profit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13A40"/>
                          </a:solidFill>
                        </a:rPr>
                        <a:t>0.97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F70"/>
                          </a:solidFill>
                        </a:rPr>
                        <a:t>Very strong positive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Units Sold vs. Total Profit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13A40"/>
                          </a:solidFill>
                        </a:rPr>
                        <a:t>-0.58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F70"/>
                          </a:solidFill>
                        </a:rPr>
                        <a:t>Moderate negative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Total Revenue vs. Profit Margin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13A40"/>
                          </a:solidFill>
                        </a:rPr>
                        <a:t>-0.71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F70"/>
                          </a:solidFill>
                        </a:rPr>
                        <a:t>Strong negative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B2E"/>
                          </a:solidFill>
                        </a:rPr>
                        <a:t>Units Sold vs. Profit Margin 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13A40"/>
                          </a:solidFill>
                        </a:rPr>
                        <a:t>0.44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F70"/>
                          </a:solidFill>
                        </a:rPr>
                        <a:t>Moderate positive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2057400"/>
            <a:ext cx="4434840" cy="3977640"/>
          </a:xfrm>
          <a:prstGeom prst="roundRect">
            <a:avLst>
              <a:gd name="adj" fmla="val 1839"/>
            </a:avLst>
          </a:prstGeom>
          <a:solidFill>
            <a:srgbClr val="013A40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0" y="2606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High-selling ≠ high-margin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98080" y="324612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move almost perfectly together (r = 0.97) — but revenue is strongly negatively correlated with profit margin % (r = -0.71). Products that sell the most (like bulk rice) tend to run thinner margins, while high-margin categories sell in smaller volume.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 &amp; 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Products by Revenue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2.2 &amp; 3.3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Revenue Share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store revenue (Jan–Jun 2026): </a:t>
            </a:r>
            <a:pPr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</a:t>
            </a:r>
            <a:pPr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2,779,627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62179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201168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F7FAF9"/>
          </a:solidFill>
          <a:ln/>
        </p:spPr>
      </p:sp>
      <p:sp>
        <p:nvSpPr>
          <p:cNvPr id="7" name="Text 4"/>
          <p:cNvSpPr/>
          <p:nvPr/>
        </p:nvSpPr>
        <p:spPr>
          <a:xfrm>
            <a:off x="736092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CATEGORIES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60920" y="2560320"/>
            <a:ext cx="320040" cy="32004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2514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&amp; Staples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0" y="25146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37.0%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60920" y="31089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&amp; Dairy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0" y="3063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17.7%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60920" y="365760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7818120" y="3611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515600" y="36118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15.4%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60920" y="4297680"/>
            <a:ext cx="4023360" cy="0"/>
          </a:xfrm>
          <a:prstGeom prst="line">
            <a:avLst/>
          </a:prstGeom>
          <a:noFill/>
          <a:ln w="12700">
            <a:solidFill>
              <a:srgbClr val="CFE9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60920" y="448056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3 categories account for over 70% of total store revenue — a small product mix carrying most of the business.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by Category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ranked by profit margin — a very different order from revenue ranking.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20574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13A40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≠ MARGIN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60604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&amp; Staples drives 37% of revenue but sits at the lowest profit margin (15.5%). Personal Care &amp; Hygiene is nearly the opposite: just 5.4% of revenue, but the highest margin (33.8%).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12480" y="4892040"/>
            <a:ext cx="2880360" cy="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50292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smaller, high-margin categories could lift overall profitability without relying solely on rice volume.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KPIs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013A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 25kg Sack (NFA)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4846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₱589,000 revenue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8346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 &amp; Staples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754880" y="4846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37.0% of total sales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201168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64108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41080" y="28346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₱2,779,627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641080" y="4846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7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&amp; Staples contributes 37% of total revenue, with Rice 25kg Sack (NFA) as the single highest-earning product at ₱589,000.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7FAF9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749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52044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categories carry thinner margins: Rice &amp; Staples has the lowest profit margin (15.5%) despite leading in revenue, while Personal Care &amp; Hygiene earns the highest margin (33.8%) on far less volume.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7FA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5303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507492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move almost in lockstep (r = 0.97), but revenue and profit margin % move in opposite directions (r = -0.71) — bigger sellers aren't automatically the most profitable.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Roles — Checkpoint 2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61264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Member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4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</a:rPr>
                        <a:t>Angel Frederick Paredes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Lead Developer / Project Lead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Statistical analysis, correlation testing, dashboard visualizations, report compilation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</a:rPr>
                        <a:t>Jeeruz Marl Tabar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Research Support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Verified data definitions used in descriptive statistics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</a:rPr>
                        <a:t>Luke Kibry Jao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Testing Support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Manual testing of pivot tables and chart outputs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B2E"/>
                          </a:solidFill>
                        </a:rPr>
                        <a:t>Clein Lord Will Surigao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Documentation Review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C6F70"/>
                          </a:solidFill>
                        </a:rPr>
                        <a:t>Reviewed checkpoint write-up and final report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106 — Business Analytics  |  Checkpoint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—  RetailPulse: Poblacion Grocery Mart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2026-08-23T06:44:39Z</dcterms:created>
  <dcterms:modified xsi:type="dcterms:W3CDTF">2026-08-23T06:44:39Z</dcterms:modified>
</cp:coreProperties>
</file>