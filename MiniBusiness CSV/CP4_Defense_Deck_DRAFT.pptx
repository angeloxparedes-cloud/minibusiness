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3864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F3864"/>
                </a:solidFill>
                <a:latin typeface="Arial"/>
              </a:rPr>
              <a:t>Revenue by Category (₱)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(₱)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Personal Care</c:v>
                  </c:pt>
                  <c:pt idx="1">
                    <c:v>Household</c:v>
                  </c:pt>
                  <c:pt idx="2">
                    <c:v>Condiments</c:v>
                  </c:pt>
                  <c:pt idx="3">
                    <c:v>Snacks</c:v>
                  </c:pt>
                  <c:pt idx="4">
                    <c:v>Canned Goods</c:v>
                  </c:pt>
                  <c:pt idx="5">
                    <c:v>Bread</c:v>
                  </c:pt>
                  <c:pt idx="6">
                    <c:v>Beverages</c:v>
                  </c:pt>
                  <c:pt idx="7">
                    <c:v>Frozen/Dairy</c:v>
                  </c:pt>
                  <c:pt idx="8">
                    <c:v>Rice &amp; Staples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150360</c:v>
                </c:pt>
                <c:pt idx="1">
                  <c:v>178717</c:v>
                </c:pt>
                <c:pt idx="2">
                  <c:v>103846</c:v>
                </c:pt>
                <c:pt idx="3">
                  <c:v>127248</c:v>
                </c:pt>
                <c:pt idx="4">
                  <c:v>203989</c:v>
                </c:pt>
                <c:pt idx="5">
                  <c:v>67902</c:v>
                </c:pt>
                <c:pt idx="6">
                  <c:v>427095</c:v>
                </c:pt>
                <c:pt idx="7">
                  <c:v>491710</c:v>
                </c:pt>
                <c:pt idx="8">
                  <c:v>1028760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7E7E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BF9000"/>
            </a:solidFill>
            <a:ln w="25400" cap="flat">
              <a:solidFill>
                <a:srgbClr val="BF90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BF9000"/>
              </a:solidFill>
              <a:ln w="9525" cap="flat">
                <a:solidFill>
                  <a:srgbClr val="BF90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466</c:v>
                </c:pt>
                <c:pt idx="1">
                  <c:v>411</c:v>
                </c:pt>
                <c:pt idx="2">
                  <c:v>534</c:v>
                </c:pt>
                <c:pt idx="3">
                  <c:v>448</c:v>
                </c:pt>
                <c:pt idx="4">
                  <c:v>470</c:v>
                </c:pt>
                <c:pt idx="5">
                  <c:v>449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7E7E7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900" b="0" i="0" u="none" strike="noStrike">
                    <a:solidFill>
                      <a:srgbClr val="000000"/>
                    </a:solidFill>
                    <a:latin typeface="Arial"/>
                  </a:rPr>
                  <a:t>₱ thousands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 &amp; business context (2-3 min). Whoever opens: state the problem, the store, and why analytics matters here, before naming the domain and questions on the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&amp; SQL overview (3-4 min). Show the ERD briefly, then highlight 2-3 SQL findings from this table — don't read the whole table, pick the ones you can explain if asked how the query works.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Statistical insights (3-4 min). Present the correlation table and the category revenue chart. Be ready to explain in plain terms what r=0.97 vs r=-0.71 means for the business.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dashboard demo (5-6 min). Walk through all 4 pages live in Power BI. Demonstrate the category_name slicer live (synced across pages) and the drill-through from a Deep Dive segment to Product Detail — this satisfies the 'demonstrate an interactive feature live' requirement.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Predictive analytics &amp; recommendations (4-5 min). Explain in plain language: for every extra peso of price, revenue rises more than for every extra unit sold. Know why (p-values, R²) in case asked.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Ethics &amp; governance (1-2 min) — keep this brief, hit the 4 points, don't read verbatim.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defense / Q&amp;A (5 min). All 4 members should be ready to field questions — decide beforehand roughly who covers which section if asked to go deeper.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0312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RETAILPULSE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822960" y="30632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FC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Poblacion Grocery Mart — Sales Analytics Capstone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68680" y="3794760"/>
            <a:ext cx="2926080" cy="0"/>
          </a:xfrm>
          <a:prstGeom prst="line">
            <a:avLst/>
          </a:prstGeom>
          <a:noFill/>
          <a:ln w="31750">
            <a:solidFill>
              <a:srgbClr val="BF9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40233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FC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 106 — Business Analytics  |  Checkpoint 4 Final Defense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5943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Angel Frederick Paredes  •  Jeeruz Marl Tabar  •  Luke Kibry Jao  •  Clein Lord Will Surigao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62636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C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Talibon Polytechnic College  |  A.Y. 2026–2027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F9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&amp; BUSINESS CONTEXT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We Set Out to Solve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5760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Poblacion Grocery Mart carries dozens of products across 9 categories, but without structured sales analysis, the owner can't tell which categories actually drive revenue versus which merely occupy shelf space.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94360" y="3630168"/>
            <a:ext cx="109728" cy="109728"/>
          </a:xfrm>
          <a:prstGeom prst="ellipse">
            <a:avLst/>
          </a:prstGeom>
          <a:solidFill>
            <a:srgbClr val="BF900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35661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categories generate the most revenue?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4197096"/>
            <a:ext cx="109728" cy="109728"/>
          </a:xfrm>
          <a:prstGeom prst="ellipse">
            <a:avLst/>
          </a:prstGeom>
          <a:solidFill>
            <a:srgbClr val="BF9000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4133088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top categories driven by price, volume, or both?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" y="4764024"/>
            <a:ext cx="109728" cy="109728"/>
          </a:xfrm>
          <a:prstGeom prst="ellipse">
            <a:avLst/>
          </a:prstGeom>
          <a:solidFill>
            <a:srgbClr val="BF9000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4700016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revenue show any peaks across the 6-month period?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720840" y="1737360"/>
            <a:ext cx="4937760" cy="4023360"/>
          </a:xfrm>
          <a:prstGeom prst="roundRect">
            <a:avLst>
              <a:gd name="adj" fmla="val 1818"/>
            </a:avLst>
          </a:prstGeom>
          <a:solidFill>
            <a:srgbClr val="DCE6F1"/>
          </a:solidFill>
          <a:ln/>
        </p:spPr>
      </p:sp>
      <p:sp>
        <p:nvSpPr>
          <p:cNvPr id="12" name="Text 10"/>
          <p:cNvSpPr/>
          <p:nvPr/>
        </p:nvSpPr>
        <p:spPr>
          <a:xfrm>
            <a:off x="7086600" y="196596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AT A GLANCE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086600" y="251460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8549640" y="26060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086600" y="310896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549640" y="32004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086600" y="370332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2,532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8549640" y="37947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086600" y="429768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10,087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8549640" y="43891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 items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086600" y="489204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mo.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8549640" y="49834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Jan–Jun 2026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RetailPulse — Poblacion Grocery Mart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F9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SQL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Relational Schema &amp; Query Highlights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related tables in MySQL — categories, products, transactions, transaction_items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2514600" cy="731520"/>
          </a:xfrm>
          <a:prstGeom prst="roundRect">
            <a:avLst>
              <a:gd name="adj" fmla="val 7500"/>
            </a:avLst>
          </a:prstGeom>
          <a:solidFill>
            <a:srgbClr val="1F3864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14884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337560" y="2148840"/>
            <a:ext cx="2514600" cy="731520"/>
          </a:xfrm>
          <a:prstGeom prst="roundRect">
            <a:avLst>
              <a:gd name="adj" fmla="val 7500"/>
            </a:avLst>
          </a:prstGeom>
          <a:solidFill>
            <a:srgbClr val="1F3864"/>
          </a:solidFill>
          <a:ln/>
        </p:spPr>
      </p:sp>
      <p:sp>
        <p:nvSpPr>
          <p:cNvPr id="8" name="Text 6"/>
          <p:cNvSpPr/>
          <p:nvPr/>
        </p:nvSpPr>
        <p:spPr>
          <a:xfrm>
            <a:off x="3337560" y="214884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26480" y="2148840"/>
            <a:ext cx="2514600" cy="731520"/>
          </a:xfrm>
          <a:prstGeom prst="roundRect">
            <a:avLst>
              <a:gd name="adj" fmla="val 7500"/>
            </a:avLst>
          </a:prstGeom>
          <a:solidFill>
            <a:srgbClr val="1F3864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0" y="214884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915400" y="2148840"/>
            <a:ext cx="2514600" cy="731520"/>
          </a:xfrm>
          <a:prstGeom prst="roundRect">
            <a:avLst>
              <a:gd name="adj" fmla="val 7500"/>
            </a:avLst>
          </a:prstGeom>
          <a:solidFill>
            <a:srgbClr val="1F3864"/>
          </a:solidFill>
          <a:ln/>
        </p:spPr>
      </p:sp>
      <p:sp>
        <p:nvSpPr>
          <p:cNvPr id="12" name="Text 10"/>
          <p:cNvSpPr/>
          <p:nvPr/>
        </p:nvSpPr>
        <p:spPr>
          <a:xfrm>
            <a:off x="8915400" y="214884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transaction_items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32004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SQL queries executed: WHERE/ORDER BY · GROUP BY + aggregates · JOIN · business-relevant queries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703320"/>
          <a:ext cx="11064240" cy="2286000"/>
        </p:xfrm>
        <a:graphic>
          <a:graphicData uri="http://schemas.openxmlformats.org/drawingml/2006/table">
            <a:tbl>
              <a:tblPr/>
              <a:tblGrid>
                <a:gridCol w="5943600"/>
                <a:gridCol w="5120640"/>
              </a:tblGrid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Business Question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Query Result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Revenue &amp; profit by category (JOIN + GROUP BY)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Rice &amp; Staples leads at ₱1,028,760 (37% of sales)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 products by revenue (WHERE + ORDER BY)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Rice 25kg Sack (NFA) — ₱589,000, single highest product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Monthly revenue totals (GROUP BY)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Ranges ₱411K–₱534K across Jan–Jun 2026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12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RetailPulse — Poblacion Grocery Mart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F9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STATISTICAL INSIGHTS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Numbers Show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5486400" cy="1828800"/>
        </p:xfrm>
        <a:graphic>
          <a:graphicData uri="http://schemas.openxmlformats.org/drawingml/2006/table">
            <a:tbl>
              <a:tblPr/>
              <a:tblGrid>
                <a:gridCol w="3291840"/>
                <a:gridCol w="914400"/>
                <a:gridCol w="12801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Variables Compared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Strength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Revenue vs. Total Profit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Very strong positive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Revenue vs. Profit Margin 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-0.71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Strong negative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Units Sold vs. Profit Margin 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Moderate positive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657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Descriptive stats (n = 40 products)</a:t>
            </a:r>
            <a:endParaRPr lang="en-US" sz="140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023360"/>
          <a:ext cx="5486400" cy="146304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Revenue/product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₱69,490.68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₱33,408.00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Std. Dev.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₱105,410.26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7" name="Chart 0" descr=""/>
          <p:cNvGraphicFramePr/>
          <p:nvPr/>
        </p:nvGraphicFramePr>
        <p:xfrm>
          <a:off x="6355080" y="1691640"/>
          <a:ext cx="530352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3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RetailPulse — Poblacion Grocery Mart</a:t>
            </a:r>
            <a:endParaRPr lang="en-US" sz="900" dirty="0"/>
          </a:p>
        </p:txBody>
      </p:sp>
      <p:sp>
        <p:nvSpPr>
          <p:cNvPr id="9" name="Text 4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4688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BF9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DASHBOARD DEMO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28803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Switching to Power BI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68680" y="402336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F9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71600" y="40233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452628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F9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452628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 &amp; Comparison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502920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F9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502920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Dive / Segmentation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68680" y="553212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F9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553212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Detail (drill-through)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F9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DIVE — SEGMENTATION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Product Segments (K-Means, k=3)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11880" cy="3383280"/>
          </a:xfrm>
          <a:prstGeom prst="roundRect">
            <a:avLst>
              <a:gd name="adj" fmla="val 2162"/>
            </a:avLst>
          </a:prstGeom>
          <a:solidFill>
            <a:srgbClr val="F2F2F2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37360"/>
            <a:ext cx="3611880" cy="822960"/>
          </a:xfrm>
          <a:prstGeom prst="roundRect">
            <a:avLst>
              <a:gd name="adj" fmla="val 8889"/>
            </a:avLst>
          </a:prstGeom>
          <a:solidFill>
            <a:srgbClr val="1F386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148840"/>
            <a:ext cx="3611880" cy="41148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810512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Everyday Margin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Earners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2743200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731520" y="333756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3794760"/>
            <a:ext cx="3246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Revenue   </a:t>
            </a:r>
            <a:pPr indent="0" marL="0">
              <a:lnSpc>
                <a:spcPts val="2200"/>
              </a:lnSpc>
              <a:buNone/>
            </a:pPr>
            <a:r>
              <a:rPr lang="en-US" sz="1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₱25.75K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Margin    </a:t>
            </a:r>
            <a:pPr indent="0" marL="0">
              <a:lnSpc>
                <a:spcPts val="2200"/>
              </a:lnSpc>
              <a:buNone/>
            </a:pPr>
            <a:r>
              <a:rPr lang="en-US" sz="1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32.93%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89120" y="1737360"/>
            <a:ext cx="3611880" cy="3383280"/>
          </a:xfrm>
          <a:prstGeom prst="roundRect">
            <a:avLst>
              <a:gd name="adj" fmla="val 2162"/>
            </a:avLst>
          </a:prstGeom>
          <a:solidFill>
            <a:srgbClr val="F2F2F2"/>
          </a:solidFill>
          <a:ln/>
        </p:spPr>
      </p:sp>
      <p:sp>
        <p:nvSpPr>
          <p:cNvPr id="12" name="Shape 10"/>
          <p:cNvSpPr/>
          <p:nvPr/>
        </p:nvSpPr>
        <p:spPr>
          <a:xfrm>
            <a:off x="4389120" y="1737360"/>
            <a:ext cx="3611880" cy="822960"/>
          </a:xfrm>
          <a:prstGeom prst="roundRect">
            <a:avLst>
              <a:gd name="adj" fmla="val 8889"/>
            </a:avLst>
          </a:prstGeom>
          <a:solidFill>
            <a:srgbClr val="2E5395"/>
          </a:solidFill>
          <a:ln/>
        </p:spPr>
      </p:sp>
      <p:sp>
        <p:nvSpPr>
          <p:cNvPr id="13" name="Shape 11"/>
          <p:cNvSpPr/>
          <p:nvPr/>
        </p:nvSpPr>
        <p:spPr>
          <a:xfrm>
            <a:off x="4389120" y="2148840"/>
            <a:ext cx="3611880" cy="411480"/>
          </a:xfrm>
          <a:prstGeom prst="rect">
            <a:avLst/>
          </a:prstGeom>
          <a:solidFill>
            <a:srgbClr val="2E539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0" y="1810512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High-Ticket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Anchor Items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0" y="2743200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4572000" y="333756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0" y="3794760"/>
            <a:ext cx="3246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Revenue   </a:t>
            </a:r>
            <a:pPr indent="0" marL="0">
              <a:lnSpc>
                <a:spcPts val="2200"/>
              </a:lnSpc>
              <a:buNone/>
            </a:pPr>
            <a:r>
              <a:rPr lang="en-US" sz="1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₱324.81K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Margin    </a:t>
            </a:r>
            <a:pPr indent="0" marL="0">
              <a:lnSpc>
                <a:spcPts val="2200"/>
              </a:lnSpc>
              <a:buNone/>
            </a:pPr>
            <a:r>
              <a:rPr lang="en-US" sz="1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17.39%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229600" y="1737360"/>
            <a:ext cx="3611880" cy="3383280"/>
          </a:xfrm>
          <a:prstGeom prst="roundRect">
            <a:avLst>
              <a:gd name="adj" fmla="val 2162"/>
            </a:avLst>
          </a:prstGeom>
          <a:solidFill>
            <a:srgbClr val="F2F2F2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0" y="1737360"/>
            <a:ext cx="3611880" cy="822960"/>
          </a:xfrm>
          <a:prstGeom prst="roundRect">
            <a:avLst>
              <a:gd name="adj" fmla="val 8889"/>
            </a:avLst>
          </a:prstGeom>
          <a:solidFill>
            <a:srgbClr val="BF9000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0" y="2148840"/>
            <a:ext cx="3611880" cy="411480"/>
          </a:xfrm>
          <a:prstGeom prst="rect">
            <a:avLst/>
          </a:prstGeom>
          <a:solidFill>
            <a:srgbClr val="BF9000"/>
          </a:solidFill>
          <a:ln/>
        </p:spPr>
      </p:sp>
      <p:sp>
        <p:nvSpPr>
          <p:cNvPr id="21" name="Text 19"/>
          <p:cNvSpPr/>
          <p:nvPr/>
        </p:nvSpPr>
        <p:spPr>
          <a:xfrm>
            <a:off x="8412480" y="1810512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Revenue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412480" y="2743200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3400" dirty="0"/>
          </a:p>
        </p:txBody>
      </p:sp>
      <p:sp>
        <p:nvSpPr>
          <p:cNvPr id="23" name="Text 21"/>
          <p:cNvSpPr/>
          <p:nvPr/>
        </p:nvSpPr>
        <p:spPr>
          <a:xfrm>
            <a:off x="8412480" y="333756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412480" y="3794760"/>
            <a:ext cx="3246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Revenue   </a:t>
            </a:r>
            <a:pPr indent="0" marL="0">
              <a:lnSpc>
                <a:spcPts val="2200"/>
              </a:lnSpc>
              <a:buNone/>
            </a:pPr>
            <a:r>
              <a:rPr lang="en-US" sz="1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₱110.98K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Margin    </a:t>
            </a:r>
            <a:pPr indent="0" marL="0">
              <a:lnSpc>
                <a:spcPts val="2200"/>
              </a:lnSpc>
              <a:buNone/>
            </a:pPr>
            <a:r>
              <a:rPr lang="en-US" sz="1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23.11%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RetailPulse — Poblacion Grocery Mart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F9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PREDICTIVE ANALYTICS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1 — What Drives Product Revenue?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731520"/>
          </a:xfrm>
          <a:prstGeom prst="roundRect">
            <a:avLst>
              <a:gd name="adj" fmla="val 7500"/>
            </a:avLst>
          </a:prstGeom>
          <a:solidFill>
            <a:srgbClr val="DCE6F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916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Revenue = -72,824.47 + (123.90 × Units Sold) + (420.51 × Unit Price)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6974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0.9501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R²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319272" y="26974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0.9474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319272" y="32461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Adj. R²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089904" y="26974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₱15,435.50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089904" y="32461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860536" y="26974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₱23,256.82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8860536" y="32461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RMSE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749040"/>
            <a:ext cx="1106424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977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F9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4343400"/>
            <a:ext cx="11064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price carries about 3.4× more revenue leverage than sales volume (₱420.51 vs. ₱123.90 per unit). Both predictors are statistically significant (price p&lt;0.001, volume p=0.013).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RetailPulse — Poblacion Grocery Mart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F9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PREDICTIVE ANALYTICS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2 &amp; Business Recommendations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 Forecast — Monthly Revenue</a:t>
            </a:r>
            <a:endParaRPr lang="en-US" sz="15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2103120"/>
          <a:ext cx="539496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572000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Slope p = 0.939 (not significant), R² = 0.002 — no reliable trend detected; Jul–Sep forecast is essentially flat.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355080" y="16916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Recommendations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355080" y="2148840"/>
            <a:ext cx="365760" cy="36576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9" name="Text 6"/>
          <p:cNvSpPr/>
          <p:nvPr/>
        </p:nvSpPr>
        <p:spPr>
          <a:xfrm>
            <a:off x="6355080" y="2148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858000" y="2130552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Prioritize pricing strategy over volume pushes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355080" y="2862072"/>
            <a:ext cx="365760" cy="36576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2" name="Text 9"/>
          <p:cNvSpPr/>
          <p:nvPr/>
        </p:nvSpPr>
        <p:spPr>
          <a:xfrm>
            <a:off x="6355080" y="28620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858000" y="2843784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assume organic revenue growth — plan interventions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355080" y="3575304"/>
            <a:ext cx="365760" cy="36576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5" name="Text 12"/>
          <p:cNvSpPr/>
          <p:nvPr/>
        </p:nvSpPr>
        <p:spPr>
          <a:xfrm>
            <a:off x="6355080" y="3575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858000" y="3557016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revenue model to evaluate new/repriced products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355080" y="4288536"/>
            <a:ext cx="365760" cy="36576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8" name="Text 15"/>
          <p:cNvSpPr/>
          <p:nvPr/>
        </p:nvSpPr>
        <p:spPr>
          <a:xfrm>
            <a:off x="6355080" y="428853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858000" y="4270248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Re-run the trend forecast quarterly as data accumulates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RetailPulse — Poblacion Grocery Mart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F9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ETHICS &amp; GOVERNANCE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Privacy at a Glance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97480" cy="3291840"/>
          </a:xfrm>
          <a:prstGeom prst="roundRect">
            <a:avLst>
              <a:gd name="adj" fmla="val 2712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01168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514600"/>
            <a:ext cx="23317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Localized dataset — no PII. No customer names, IDs, or contact details.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56432" y="1828800"/>
            <a:ext cx="2697480" cy="3291840"/>
          </a:xfrm>
          <a:prstGeom prst="roundRect">
            <a:avLst>
              <a:gd name="adj" fmla="val 2712"/>
            </a:avLst>
          </a:prstGeom>
          <a:solidFill>
            <a:srgbClr val="F2F2F2"/>
          </a:solidFill>
          <a:ln/>
        </p:spPr>
      </p:sp>
      <p:sp>
        <p:nvSpPr>
          <p:cNvPr id="8" name="Text 6"/>
          <p:cNvSpPr/>
          <p:nvPr/>
        </p:nvSpPr>
        <p:spPr>
          <a:xfrm>
            <a:off x="3639312" y="201168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Ethical Risk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39312" y="2514600"/>
            <a:ext cx="23317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payment_type could act as a proxy for economic status if misused — this project avoids that.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64224" y="1828800"/>
            <a:ext cx="2697480" cy="3291840"/>
          </a:xfrm>
          <a:prstGeom prst="roundRect">
            <a:avLst>
              <a:gd name="adj" fmla="val 2712"/>
            </a:avLst>
          </a:prstGeom>
          <a:solidFill>
            <a:srgbClr val="F2F2F2"/>
          </a:solidFill>
          <a:ln/>
        </p:spPr>
      </p:sp>
      <p:sp>
        <p:nvSpPr>
          <p:cNvPr id="11" name="Text 9"/>
          <p:cNvSpPr/>
          <p:nvPr/>
        </p:nvSpPr>
        <p:spPr>
          <a:xfrm>
            <a:off x="6547104" y="201168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47104" y="2514600"/>
            <a:ext cx="23317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 limitation, access control, retention limits, and data minimization.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272016" y="1828800"/>
            <a:ext cx="2697480" cy="3291840"/>
          </a:xfrm>
          <a:prstGeom prst="roundRect">
            <a:avLst>
              <a:gd name="adj" fmla="val 2712"/>
            </a:avLst>
          </a:prstGeom>
          <a:solidFill>
            <a:srgbClr val="F2F2F2"/>
          </a:solidFill>
          <a:ln/>
        </p:spPr>
      </p:sp>
      <p:sp>
        <p:nvSpPr>
          <p:cNvPr id="14" name="Text 12"/>
          <p:cNvSpPr/>
          <p:nvPr/>
        </p:nvSpPr>
        <p:spPr>
          <a:xfrm>
            <a:off x="9454896" y="201168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454896" y="2514600"/>
            <a:ext cx="23317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 10173 (Philippine Data Privacy Act) would apply if real, identifiable customer data were used.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RetailPulse — Poblacion Grocery Mart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3774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822960" y="32918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FC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Defense &amp; Q&amp;A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68680" y="3977640"/>
            <a:ext cx="2926080" cy="0"/>
          </a:xfrm>
          <a:prstGeom prst="line">
            <a:avLst/>
          </a:prstGeom>
          <a:noFill/>
          <a:ln w="31750">
            <a:solidFill>
              <a:srgbClr val="BF9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6035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FC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RetailPulse — Poblacion Grocery Mart  |  BED 106 Capstone Defense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2026-08-23T11:18:41Z</dcterms:created>
  <dcterms:modified xsi:type="dcterms:W3CDTF">2026-08-23T11:18:41Z</dcterms:modified>
</cp:coreProperties>
</file>