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86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3864"/>
                </a:solidFill>
                <a:latin typeface="Arial"/>
              </a:rPr>
              <a:t>Revenue by Category (₱)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(₱)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Personal Care</c:v>
                  </c:pt>
                  <c:pt idx="1">
                    <c:v>Household</c:v>
                  </c:pt>
                  <c:pt idx="2">
                    <c:v>Condiments</c:v>
                  </c:pt>
                  <c:pt idx="3">
                    <c:v>Snacks</c:v>
                  </c:pt>
                  <c:pt idx="4">
                    <c:v>Canned Goods</c:v>
                  </c:pt>
                  <c:pt idx="5">
                    <c:v>Bread</c:v>
                  </c:pt>
                  <c:pt idx="6">
                    <c:v>Beverages</c:v>
                  </c:pt>
                  <c:pt idx="7">
                    <c:v>Frozen/Dairy</c:v>
                  </c:pt>
                  <c:pt idx="8">
                    <c:v>Rice &amp; Staples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150360</c:v>
                </c:pt>
                <c:pt idx="1">
                  <c:v>178717</c:v>
                </c:pt>
                <c:pt idx="2">
                  <c:v>103846</c:v>
                </c:pt>
                <c:pt idx="3">
                  <c:v>127248</c:v>
                </c:pt>
                <c:pt idx="4">
                  <c:v>203989</c:v>
                </c:pt>
                <c:pt idx="5">
                  <c:v>67902</c:v>
                </c:pt>
                <c:pt idx="6">
                  <c:v>427095</c:v>
                </c:pt>
                <c:pt idx="7">
                  <c:v>491710</c:v>
                </c:pt>
                <c:pt idx="8">
                  <c:v>1028760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7E7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BF9000"/>
            </a:solidFill>
            <a:ln w="25400" cap="flat">
              <a:solidFill>
                <a:srgbClr val="BF9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F9000"/>
              </a:solidFill>
              <a:ln w="9525" cap="flat">
                <a:solidFill>
                  <a:srgbClr val="BF9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466</c:v>
                </c:pt>
                <c:pt idx="1">
                  <c:v>411</c:v>
                </c:pt>
                <c:pt idx="2">
                  <c:v>534</c:v>
                </c:pt>
                <c:pt idx="3">
                  <c:v>448</c:v>
                </c:pt>
                <c:pt idx="4">
                  <c:v>470</c:v>
                </c:pt>
                <c:pt idx="5">
                  <c:v>449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7E7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₱ thousands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 &amp; business context (2-3 min). Whoever opens: state the problem, the store, and why analytics matters here, before naming the domain and questions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&amp; SQL overview (3-4 min). Show the ERD briefly, then highlight 2-3 SQL findings from this table — don't read the whole table, pick the ones you can explain if asked how the query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Statistical insights (3-4 min). Present the correlation table and the category revenue chart. Be ready to explain in plain terms what r=0.97 vs r=-0.71 means for the business.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dashboard demo (5-6 min). Walk through all 4 pages live in Power BI. Demonstrate the category_name slicer live (synced across pages) and the drill-through from a Deep Dive segment to Product Detail — this satisfies the 'demonstrate an interactive feature live'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Predictive analytics &amp; recommendations (4-5 min). Explain in plain language: for every extra peso of price, revenue rises more than for every extra unit sold. Know why (p-values, R²) in case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Ethics &amp; governance (1-2 min) — keep this brief, hit the 4 points, don't read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defense / Q&amp;A (5 min). All 4 members should be ready to field questions — decide beforehand roughly who covers which section if asked to go deeper.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FC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Poblacion Grocery Mart — Sales Analytics Capstone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794760"/>
            <a:ext cx="2926080" cy="0"/>
          </a:xfrm>
          <a:prstGeom prst="line">
            <a:avLst/>
          </a:prstGeom>
          <a:noFill/>
          <a:ln w="31750">
            <a:solidFill>
              <a:srgbClr val="BF9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023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 106 — Business Analytics  |  Checkpoint 4 Final Defense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Angel Frederick Paredes  •  Jeeruz Marl Tabar  •  Luke Kibry Jao  •  Clein Lord Will Surigao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Talibon Polytechnic College  |  A.Y. 2026–2027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&amp; BUSINESS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We Set Out to Solve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760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Poblacion Grocery Mart carries dozens of products across 9 categories, but without structured sales analysis, the owner can't tell which categories actually drive revenue versus which merely occupy shelf space.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3630168"/>
            <a:ext cx="109728" cy="109728"/>
          </a:xfrm>
          <a:prstGeom prst="ellipse">
            <a:avLst/>
          </a:prstGeom>
          <a:solidFill>
            <a:srgbClr val="BF900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566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categories generate the most revenue?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4197096"/>
            <a:ext cx="109728" cy="109728"/>
          </a:xfrm>
          <a:prstGeom prst="ellipse">
            <a:avLst/>
          </a:prstGeom>
          <a:solidFill>
            <a:srgbClr val="BF900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133088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top categories driven by price, volume, or both?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4764024"/>
            <a:ext cx="109728" cy="109728"/>
          </a:xfrm>
          <a:prstGeom prst="ellipse">
            <a:avLst/>
          </a:prstGeom>
          <a:solidFill>
            <a:srgbClr val="BF900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700016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revenue show any peaks across the 6-month period?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1737360"/>
            <a:ext cx="4937760" cy="4023360"/>
          </a:xfrm>
          <a:prstGeom prst="roundRect">
            <a:avLst>
              <a:gd name="adj" fmla="val 1818"/>
            </a:avLst>
          </a:prstGeom>
          <a:solidFill>
            <a:srgbClr val="DCE6F1"/>
          </a:solidFill>
          <a:ln/>
        </p:spPr>
      </p:sp>
      <p:sp>
        <p:nvSpPr>
          <p:cNvPr id="12" name="Text 10"/>
          <p:cNvSpPr/>
          <p:nvPr/>
        </p:nvSpPr>
        <p:spPr>
          <a:xfrm>
            <a:off x="70866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86600" y="25146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549640" y="2606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86600" y="31089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549640" y="32004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86600" y="3703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2,532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549640" y="3794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86600" y="42976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10,087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549640" y="4389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items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86600" y="48920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mo.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549640" y="4983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Jan–Jun 2026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SQL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Schema &amp; Query Highlights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related tables in MySQL — categories, products, transactions, transaction_items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514600" cy="731520"/>
          </a:xfrm>
          <a:prstGeom prst="roundRect">
            <a:avLst>
              <a:gd name="adj" fmla="val 7500"/>
            </a:avLst>
          </a:prstGeom>
          <a:solidFill>
            <a:srgbClr val="1F386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2148840"/>
            <a:ext cx="2514600" cy="731520"/>
          </a:xfrm>
          <a:prstGeom prst="roundRect">
            <a:avLst>
              <a:gd name="adj" fmla="val 7500"/>
            </a:avLst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214884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2148840"/>
            <a:ext cx="2514600" cy="731520"/>
          </a:xfrm>
          <a:prstGeom prst="roundRect">
            <a:avLst>
              <a:gd name="adj" fmla="val 7500"/>
            </a:avLst>
          </a:prstGeom>
          <a:solidFill>
            <a:srgbClr val="1F3864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214884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15400" y="2148840"/>
            <a:ext cx="2514600" cy="731520"/>
          </a:xfrm>
          <a:prstGeom prst="roundRect">
            <a:avLst>
              <a:gd name="adj" fmla="val 7500"/>
            </a:avLst>
          </a:prstGeom>
          <a:solidFill>
            <a:srgbClr val="1F3864"/>
          </a:solidFill>
          <a:ln/>
        </p:spPr>
      </p:sp>
      <p:sp>
        <p:nvSpPr>
          <p:cNvPr id="12" name="Text 10"/>
          <p:cNvSpPr/>
          <p:nvPr/>
        </p:nvSpPr>
        <p:spPr>
          <a:xfrm>
            <a:off x="8915400" y="214884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transaction_items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SQL queries executed: WHERE/ORDER BY · GROUP BY + aggregates · JOIN · business-relevant queries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64240" cy="22860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 Result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profit by category (JOIN + GROUP BY)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Rice &amp; Staples leads at ₱1,028,760 (37% of sales)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products by revenue (WHERE + ORDER BY)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Rice 25kg Sack (NFA) — ₱589,000, single highest 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revenue totals (GROUP BY)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Ranges ₱411K–₱534K across Jan–Jun 2026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Numbers Show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18288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Variables Compared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 vs. Total Profit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strong positive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 vs. Profit Margin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negative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Sold vs. Profit Margin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 positive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stats (n = 40 products)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5486400" cy="14630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Revenue/product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₱69,490.68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₱33,408.00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Dev.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₱105,410.26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6355080" y="169164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DASHBOARD DEMO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to Power BI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0233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40233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45262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45262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&amp; Comparison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50292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 / Segmentation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55321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55321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Detail (drill-through)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 — SEGMENTATION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Product Segments (K-Means, k=3)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37360"/>
            <a:ext cx="3611880" cy="822960"/>
          </a:xfrm>
          <a:prstGeom prst="roundRect">
            <a:avLst>
              <a:gd name="adj" fmla="val 8889"/>
            </a:avLst>
          </a:prstGeom>
          <a:solidFill>
            <a:srgbClr val="1F386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48840"/>
            <a:ext cx="3611880" cy="4114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10512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Margin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33756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  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₱25.75K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Margin    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32.93%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173736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1737360"/>
            <a:ext cx="3611880" cy="822960"/>
          </a:xfrm>
          <a:prstGeom prst="roundRect">
            <a:avLst>
              <a:gd name="adj" fmla="val 8889"/>
            </a:avLst>
          </a:prstGeom>
          <a:solidFill>
            <a:srgbClr val="2E5395"/>
          </a:solidFill>
          <a:ln/>
        </p:spPr>
      </p:sp>
      <p:sp>
        <p:nvSpPr>
          <p:cNvPr id="13" name="Shape 11"/>
          <p:cNvSpPr/>
          <p:nvPr/>
        </p:nvSpPr>
        <p:spPr>
          <a:xfrm>
            <a:off x="4389120" y="2148840"/>
            <a:ext cx="3611880" cy="411480"/>
          </a:xfrm>
          <a:prstGeom prst="rect">
            <a:avLst/>
          </a:prstGeom>
          <a:solidFill>
            <a:srgbClr val="2E539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810512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High-Ticket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Items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572000" y="333756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379476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  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₱324.81K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Margin    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17.39%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0" y="173736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0" y="1737360"/>
            <a:ext cx="3611880" cy="822960"/>
          </a:xfrm>
          <a:prstGeom prst="roundRect">
            <a:avLst>
              <a:gd name="adj" fmla="val 8889"/>
            </a:avLst>
          </a:prstGeom>
          <a:solidFill>
            <a:srgbClr val="BF9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0" y="2148840"/>
            <a:ext cx="3611880" cy="411480"/>
          </a:xfrm>
          <a:prstGeom prst="rect">
            <a:avLst/>
          </a:prstGeom>
          <a:solidFill>
            <a:srgbClr val="BF9000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810512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Revenue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12480" y="27432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8412480" y="333756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0" y="379476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  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₱110.98K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Margin    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23.11%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— What Drives Product Revenue?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DCE6F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 = -72,824.47 + (123.90 × Units Sold) + (420.51 × Unit Price)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19272" y="2697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19272" y="3246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R²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89904" y="2697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₱15,435.50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89904" y="3246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60536" y="2697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₱23,256.82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860536" y="3246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110642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77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34340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price carries about 3.4× more revenue leverage than sales volume (₱420.51 vs. ₱123.90 per unit). Both predictors are statistically significant (price p&lt;0.001, volume p=0.013).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&amp; Business 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Forecast — Monthly Revenue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53949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7200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 p = 0.939 (not significant), R² = 0.002 — no reliable trend detected; Jul–Sep forecast is essentially flat.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355080" y="1691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Recommendations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9" name="Text 6"/>
          <p:cNvSpPr/>
          <p:nvPr/>
        </p:nvSpPr>
        <p:spPr>
          <a:xfrm>
            <a:off x="635508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0" y="2130552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pricing strategy over volume pushes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2862072"/>
            <a:ext cx="365760" cy="36576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2" name="Text 9"/>
          <p:cNvSpPr/>
          <p:nvPr/>
        </p:nvSpPr>
        <p:spPr>
          <a:xfrm>
            <a:off x="6355080" y="2862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58000" y="2843784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assume organic revenue growth — plan interventions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3575304"/>
            <a:ext cx="365760" cy="36576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5" name="Text 12"/>
          <p:cNvSpPr/>
          <p:nvPr/>
        </p:nvSpPr>
        <p:spPr>
          <a:xfrm>
            <a:off x="6355080" y="3575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858000" y="3557016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revenue model to evaluate new/repriced products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55080" y="4288536"/>
            <a:ext cx="365760" cy="36576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8" name="Text 15"/>
          <p:cNvSpPr/>
          <p:nvPr/>
        </p:nvSpPr>
        <p:spPr>
          <a:xfrm>
            <a:off x="6355080" y="4288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858000" y="4270248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 the trend forecast quarterly as data accumulates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9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&amp; GOVERNANCE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Privacy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116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dataset — no PII. No customer names, IDs, or contact details.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56432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3639312" y="20116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Risk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39312" y="251460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payment_type could act as a proxy for economic status if misused — this project avoids that.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64224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20116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47104" y="251460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limitation, access control, retention limits, and data minimization.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272016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/>
          <p:nvPr/>
        </p:nvSpPr>
        <p:spPr>
          <a:xfrm>
            <a:off x="9454896" y="20116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54896" y="251460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26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10173 (Philippine Data Privacy Act) would apply if real, identifiable customer data were 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FC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Defense &amp; Q&amp;A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2926080" cy="0"/>
          </a:xfrm>
          <a:prstGeom prst="line">
            <a:avLst/>
          </a:prstGeom>
          <a:noFill/>
          <a:ln w="31750">
            <a:solidFill>
              <a:srgbClr val="BF9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RetailPulse — Poblacion Grocery Mart  |  BED 106 Capstone Defense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2026-08-23T11:18:41Z</dcterms:created>
  <dcterms:modified xsi:type="dcterms:W3CDTF">2026-08-23T11:18:41Z</dcterms:modified>
</cp:coreProperties>
</file>